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eg" ContentType="image/jpeg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harts/chart37e232172030.xml" ContentType="application/vnd.openxmlformats-officedocument.drawingml.chart+xml"/>
  <Override PartName="/ppt/slides/slide8.xml" ContentType="application/vnd.openxmlformats-officedocument.presentationml.slide+xml"/>
  <Override PartName="/ppt/charts/chart37e26572c10e.xml" ContentType="application/vnd.openxmlformats-officedocument.drawingml.chart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C77D"/>
    <a:srgbClr val="9999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70"/>
    <p:restoredTop sz="94635"/>
  </p:normalViewPr>
  <p:slideViewPr>
    <p:cSldViewPr snapToGrid="0">
      <p:cViewPr>
        <p:scale>
          <a:sx n="130" d="100"/>
          <a:sy n="130" d="100"/>
        </p:scale>
        <p:origin x="16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3128" y="192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handoutMaster" Target="handoutMasters/handout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/Relationships>

</file>

<file path=ppt/charts/_rels/chart37e26572c10e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37e250e0b22a.xlsx"/></Relationships>

</file>

<file path=ppt/charts/_rels/chart37e232172030.xml.rels><?xml version="1.0" encoding="UTF-8" standalone="yes"?><Relationships  xmlns="http://schemas.openxmlformats.org/package/2006/relationships"><Relationship Id="rId1" Type="http://schemas.openxmlformats.org/officeDocument/2006/relationships/package" Target="../embeddings/data37e2c424901.xlsx"/></Relationships>

</file>

<file path=ppt/charts/chart37e26572c10e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spPr>
            <a:solidFill>
              <a:srgbClr val="4477AA">
                <a:alpha val="100000"/>
              </a:srgbClr>
            </a:solidFill>
            <a:ln w="25400">
              <a:solidFill>
                <a:srgbClr val="4477AA">
                  <a:alpha val="100000"/>
                </a:srgbClr>
              </a:solidFill>
            </a:ln>
            <a:effectLst/>
          </c:spPr>
          <c:invertIfNegative val="0"/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strRef>
              <c:f>sheet1!$A$2:$A$9</c:f>
              <c:strCache>
                <c:ptCount val="8"/>
                <c:pt idx="0">
                  <c:v>Mazda RX4</c:v>
                </c:pt>
                <c:pt idx="1">
                  <c:v>Mazda RX4 Wag</c:v>
                </c:pt>
                <c:pt idx="2">
                  <c:v>Datsun 710</c:v>
                </c:pt>
                <c:pt idx="3">
                  <c:v>Hornet 4 Drive</c:v>
                </c:pt>
                <c:pt idx="4">
                  <c:v>Hornet Sportabout</c:v>
                </c:pt>
                <c:pt idx="5">
                  <c:v>Valiant</c:v>
                </c:pt>
                <c:pt idx="6">
                  <c:v>Duster 360</c:v>
                </c:pt>
                <c:pt idx="7">
                  <c:v>Merc 240D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21.0</c:v>
                </c:pt>
                <c:pt idx="1">
                  <c:v>21.0</c:v>
                </c:pt>
                <c:pt idx="2">
                  <c:v>22.8</c:v>
                </c:pt>
                <c:pt idx="3">
                  <c:v>21.4</c:v>
                </c:pt>
                <c:pt idx="4">
                  <c:v>18.7</c:v>
                </c:pt>
                <c:pt idx="5">
                  <c:v>18.1</c:v>
                </c:pt>
                <c:pt idx="6">
                  <c:v>14.3</c:v>
                </c:pt>
                <c:pt idx="7">
                  <c:v>24.4</c:v>
                </c:pt>
              </c:numCache>
            </c:numRef>
          </c:val>
        </c:ser>
        <c:dLbls>
          <c:dLblPos val="ctr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150"/>
        <c:overlap val="0"/>
        <c:axId val="64451712"/>
        <c:axId val="64453248"/>
      </c:barChart>
      <c:catAx>
        <c:axId val="64451712"/>
        <c:scaling>
          <c:orientation val="minMax"/>
        </c:scaling>
        <c:delete val="0"/>
        <c:axPos val="b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rowname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mpg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1400" i="0" b="0" u="none">
              <a:solidFill>
                <a:srgbClr val="000000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37e232172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 xmlns:c="http://schemas.openxmlformats.org/drawingml/2006/chart" xmlns:a="http://schemas.openxmlformats.org/drawingml/2006/main" xmlns:r="http://schemas.openxmlformats.org/officeDocument/2006/relationships"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mpg</c:v>
                </c:pt>
              </c:strCache>
            </c:strRef>
          </c:tx>
          <c:spPr>
            <a:solidFill>
              <a:srgbClr val="4477AA">
                <a:alpha val="100000"/>
              </a:srgbClr>
            </a:solidFill>
            <a:ln w="25400">
              <a:solidFill>
                <a:srgbClr val="4477AA">
                  <a:alpha val="100000"/>
                </a:srgbClr>
              </a:solidFill>
            </a:ln>
            <a:effectLst/>
          </c:spPr>
          <c:invertIfNegative val="0"/>
          <c:dLbls>
            <c:dLblPos val="ctr"/>
            <c:numFmt formatCode="General" sourceLinked="0"/>
            <c:separator val=", "/>
            <c:showBubbleSize val="0"/>
            <c:showCatName val="0"/>
            <c:showLegendKey val="0"/>
            <c:showPercent val="0"/>
            <c:showSerName val="0"/>
            <c:showVal val="0"/>
            <c:txPr>
              <a:bodyPr/>
              <a:lstStyle/>
              <a:p>
                <a:pPr>
                  <a:defRPr cap="none" i="0" b="0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</c:dLbls>
          <c:cat>
            <c:strRef>
              <c:f>sheet1!$A$2:$A$9</c:f>
              <c:strCache>
                <c:ptCount val="8"/>
                <c:pt idx="0">
                  <c:v>Mazda RX4</c:v>
                </c:pt>
                <c:pt idx="1">
                  <c:v>Mazda RX4 Wag</c:v>
                </c:pt>
                <c:pt idx="2">
                  <c:v>Datsun 710</c:v>
                </c:pt>
                <c:pt idx="3">
                  <c:v>Hornet 4 Drive</c:v>
                </c:pt>
                <c:pt idx="4">
                  <c:v>Hornet Sportabout</c:v>
                </c:pt>
                <c:pt idx="5">
                  <c:v>Valiant</c:v>
                </c:pt>
                <c:pt idx="6">
                  <c:v>Duster 360</c:v>
                </c:pt>
                <c:pt idx="7">
                  <c:v>Merc 240D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21.0</c:v>
                </c:pt>
                <c:pt idx="1">
                  <c:v>21.0</c:v>
                </c:pt>
                <c:pt idx="2">
                  <c:v>22.8</c:v>
                </c:pt>
                <c:pt idx="3">
                  <c:v>21.4</c:v>
                </c:pt>
                <c:pt idx="4">
                  <c:v>18.7</c:v>
                </c:pt>
                <c:pt idx="5">
                  <c:v>18.1</c:v>
                </c:pt>
                <c:pt idx="6">
                  <c:v>14.3</c:v>
                </c:pt>
                <c:pt idx="7">
                  <c:v>24.4</c:v>
                </c:pt>
              </c:numCache>
            </c:numRef>
          </c:val>
        </c:ser>
        <c:dLbls>
          <c:dLblPos val="ctr"/>
          <c:numFmt formatCode="General" sourceLinked="0"/>
          <c:separator val=", "/>
          <c:showBubbleSize val="0"/>
          <c:showCatName val="0"/>
          <c:showLegendKey val="0"/>
          <c:showPercent val="0"/>
          <c:showSerName val="0"/>
          <c:showVal val="0"/>
        </c:dLbls>
        <c:gapWidth val="150"/>
        <c:overlap val="0"/>
        <c:axId val="64451712"/>
        <c:axId val="64453248"/>
      </c:barChart>
      <c:catAx>
        <c:axId val="64451712"/>
        <c:scaling>
          <c:orientation val="minMax"/>
        </c:scaling>
        <c:delete val="0"/>
        <c:axPos val="b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rowname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</c:scaling>
        <c:delete val="0"/>
        <c:axPos val="l"/>
        <c:majorGridlines>
          <c:spPr>
            <a:ln algn="ctr" w="12700">
              <a:solidFill>
                <a:srgbClr val="999999">
                  <a:alpha val="60000"/>
                </a:srgbClr>
              </a:solidFill>
              <a:prstDash val="sysDash"/>
            </a:ln>
          </c:spPr>
        </c:maj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>mpg</a:t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1000" i="0" b="0" u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 algn="ctr" w="12700">
            <a:solidFill>
              <a:srgbClr val="999999">
                <a:alpha val="60000"/>
              </a:srgbClr>
            </a:solidFill>
            <a:prstDash val="solid"/>
          </a:ln>
        </c:spPr>
        <c:numFmt formatCode="General" sourceLinked="0"/>
        <c:crossAx val="64451712"/>
        <c:crosses val="autoZero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1400" i="0" b="0" u="none">
              <a:solidFill>
                <a:srgbClr val="000000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7D5229-4D53-F667-CB6D-217F01007F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74DC2-A4E4-9048-4DBD-2AA91984A3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4416C-77FE-564C-A2DA-473082896773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53947-3CD6-AE92-9BAD-716AFF2CB4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CE6E9-1E5D-2EE3-3340-2D3CE3178F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81E70-A936-264D-B3ED-C2AE66B21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103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ctrTitle" hasCustomPrompt="1"/>
          </p:nvPr>
        </p:nvSpPr>
        <p:spPr>
          <a:xfrm>
            <a:off x="807057" y="1697603"/>
            <a:ext cx="7009075" cy="258815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 algn="l">
              <a:defRPr sz="4500"/>
            </a:lvl1pPr>
          </a:lstStyle>
          <a:p>
            <a:r>
              <a:rPr dirty="0"/>
              <a:t>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07057" y="4285753"/>
            <a:ext cx="7009075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B25BBA-E101-A8B6-A725-50005075C016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CFB660-259F-932C-151F-ED09AF87F408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vider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800" b="1"/>
            </a:lvl1pPr>
          </a:lstStyle>
          <a:p>
            <a:r>
              <a:rPr dirty="0"/>
              <a:t>Section title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57200" y="519532"/>
            <a:ext cx="8229600" cy="410771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Chapter / header (Subtitle 2)</a:t>
            </a:r>
          </a:p>
        </p:txBody>
      </p:sp>
      <p:sp>
        <p:nvSpPr>
          <p:cNvPr id="4" name="Straight Connector 3"/>
          <p:cNvSpPr>
            <a:spLocks noGrp="1"/>
          </p:cNvSpPr>
          <p:nvPr>
            <p:ph type="ftr"/>
          </p:nvPr>
        </p:nvSpPr>
        <p:spPr>
          <a:xfrm>
            <a:off x="368300" y="6365100"/>
            <a:ext cx="8229600" cy="3429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Footer (Straight Connector 3)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DCCDD0-F9D8-D4BC-9797-A1DC5589AAE7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773DDE-651D-1BBA-4AD1-FA7B7DFCE3D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d message: Green">
    <p:bg>
      <p:bgPr>
        <a:solidFill>
          <a:srgbClr val="74C6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199" y="1521600"/>
            <a:ext cx="3441687" cy="309015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 b="1"/>
            </a:lvl1pPr>
          </a:lstStyle>
          <a:p>
            <a:r>
              <a:rPr dirty="0"/>
              <a:t>End message (Text Placeholder 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2"/>
          </p:nvPr>
        </p:nvSpPr>
        <p:spPr>
          <a:xfrm>
            <a:off x="4378518" y="1521600"/>
            <a:ext cx="3931920" cy="2834639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Subtitle (Subtitle 2)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77628-6C6C-9759-440D-07B9F15876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296536-A136-0D9E-D285-46EF01292A2C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0723C-D489-DAF4-F3AC-37F25063A3B1}"/>
              </a:ext>
            </a:extLst>
          </p:cNvPr>
          <p:cNvCxnSpPr>
            <a:cxnSpLocks/>
          </p:cNvCxnSpPr>
          <p:nvPr userDrawn="1"/>
        </p:nvCxnSpPr>
        <p:spPr>
          <a:xfrm>
            <a:off x="3898900" y="1521600"/>
            <a:ext cx="0" cy="3494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BC6C5BC1-694E-B556-E4E2-D3386D7393E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lang="en-GB" dirty="0"/>
              <a:t>Footnote</a:t>
            </a:r>
            <a:endParaRPr dirty="0"/>
          </a:p>
        </p:txBody>
      </p:sp>
      <p:sp>
        <p:nvSpPr>
          <p:cNvPr id="3" name="Content Placeholder 2"/>
          <p:cNvSpPr>
            <a:spLocks/>
          </p:cNvSpPr>
          <p:nvPr>
            <p:ph type="body" idx="1"/>
          </p:nvPr>
        </p:nvSpPr>
        <p:spPr>
          <a:xfrm>
            <a:off x="457200" y="1397969"/>
            <a:ext cx="82296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Content (Content Placeholder 2)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84200"/>
            <a:ext cx="8229600" cy="644100"/>
          </a:xfrm>
          <a:prstGeom prst="rect">
            <a:avLst/>
          </a:prstGeom>
          <a:ln w="12700">
            <a:solidFill>
              <a:srgbClr val="000000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9636FE-36BA-CB3E-19F1-A714ABE1B48F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4AD07E-34F8-C8EB-F5C6-34903B21A356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6978"/>
            <a:ext cx="8229600" cy="71132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4024800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Left column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635501" y="1567638"/>
            <a:ext cx="4051299" cy="479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Right column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2ABAF21-115B-5664-CE48-05E6169C04C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937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BC9F66-EF24-046F-E174-5B50D0CAD8CB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57D16F-C31B-9CDF-3EA2-AD19ADA060C2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BABCB6-2C6C-55CB-8BAE-45B6F32891EC}"/>
              </a:ext>
            </a:extLst>
          </p:cNvPr>
          <p:cNvCxnSpPr>
            <a:cxnSpLocks/>
          </p:cNvCxnSpPr>
          <p:nvPr userDrawn="1"/>
        </p:nvCxnSpPr>
        <p:spPr>
          <a:xfrm>
            <a:off x="4508500" y="1399769"/>
            <a:ext cx="0" cy="49554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tabl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Description 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Table Area"/>
          <p:cNvSpPr>
            <a:spLocks noGrp="1"/>
          </p:cNvSpPr>
          <p:nvPr>
            <p:ph type="tbl" idx="2" hasCustomPrompt="1"/>
          </p:nvPr>
        </p:nvSpPr>
        <p:spPr>
          <a:xfrm>
            <a:off x="457200" y="2222852"/>
            <a:ext cx="8229600" cy="4142248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Table goes here — type=</a:t>
            </a:r>
            <a:r>
              <a:rPr dirty="0" err="1"/>
              <a:t>tbl</a:t>
            </a:r>
            <a:r>
              <a:rPr dirty="0"/>
              <a:t> ]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47A074F9-4649-4A74-8FF6-310CE62F584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64537B-D8CC-2012-E496-92BC1F5CA18C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D9205C-539E-FE96-EA99-FBC321BDD193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width chart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4" name="Description"/>
          <p:cNvSpPr>
            <a:spLocks noGrp="1"/>
          </p:cNvSpPr>
          <p:nvPr>
            <p:ph type="body" idx="1"/>
          </p:nvPr>
        </p:nvSpPr>
        <p:spPr>
          <a:xfrm>
            <a:off x="457196" y="1201139"/>
            <a:ext cx="8229599" cy="1202934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Description (body type_idx=1)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199" y="5965100"/>
            <a:ext cx="8229599" cy="50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3" name="Chart Area"/>
          <p:cNvSpPr>
            <a:spLocks noGrp="1"/>
          </p:cNvSpPr>
          <p:nvPr>
            <p:ph type="chart" idx="3"/>
          </p:nvPr>
        </p:nvSpPr>
        <p:spPr>
          <a:xfrm>
            <a:off x="457200" y="2147638"/>
            <a:ext cx="8229600" cy="381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1A050A8-A766-73AA-277A-5F98893B3D4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197" y="646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67A1F-84EF-D91B-2057-7A108A5F4F68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782BD3-F661-0607-5E1B-B1A5BB1E9CFB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2900"/>
            <a:ext cx="8229600" cy="644736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2100"/>
            </a:lvl1pPr>
          </a:lstStyle>
          <a:p>
            <a:r>
              <a:rPr dirty="0"/>
              <a:t>Title (Title 1)</a:t>
            </a:r>
          </a:p>
        </p:txBody>
      </p:sp>
      <p:sp>
        <p:nvSpPr>
          <p:cNvPr id="3" name="Text Area"/>
          <p:cNvSpPr>
            <a:spLocks noGrp="1"/>
          </p:cNvSpPr>
          <p:nvPr>
            <p:ph type="body" idx="1"/>
          </p:nvPr>
        </p:nvSpPr>
        <p:spPr>
          <a:xfrm>
            <a:off x="457200" y="1297635"/>
            <a:ext cx="2880360" cy="4637465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Text (body </a:t>
            </a:r>
            <a:r>
              <a:rPr dirty="0" err="1"/>
              <a:t>type_idx</a:t>
            </a:r>
            <a:r>
              <a:rPr dirty="0"/>
              <a:t>=1)</a:t>
            </a:r>
          </a:p>
        </p:txBody>
      </p:sp>
      <p:sp>
        <p:nvSpPr>
          <p:cNvPr id="4" name="Chart Area"/>
          <p:cNvSpPr>
            <a:spLocks noGrp="1"/>
          </p:cNvSpPr>
          <p:nvPr>
            <p:ph type="chart" idx="3"/>
          </p:nvPr>
        </p:nvSpPr>
        <p:spPr>
          <a:xfrm>
            <a:off x="3517560" y="1567638"/>
            <a:ext cx="5169240" cy="4367462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/>
          <a:p>
            <a:r>
              <a:rPr dirty="0"/>
              <a:t>[ Chart goes here — type=chart ]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200" y="5935100"/>
            <a:ext cx="8229600" cy="350000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dirty="0"/>
              <a:t>Source (body </a:t>
            </a:r>
            <a:r>
              <a:rPr dirty="0" err="1"/>
              <a:t>type_idx</a:t>
            </a:r>
            <a:r>
              <a:rPr dirty="0"/>
              <a:t>=2)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A1D7B8A-674D-9F9F-D5FB-243B3C62923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45100"/>
            <a:ext cx="8229600" cy="339337"/>
          </a:xfrm>
          <a:prstGeom prst="rect">
            <a:avLst/>
          </a:prstGeom>
          <a:ln w="12700">
            <a:solidFill>
              <a:srgbClr val="999999">
                <a:alpha val="0"/>
              </a:srgbClr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104BD9-43EE-18B8-124F-10821517D7FA}"/>
              </a:ext>
            </a:extLst>
          </p:cNvPr>
          <p:cNvCxnSpPr/>
          <p:nvPr userDrawn="1"/>
        </p:nvCxnSpPr>
        <p:spPr>
          <a:xfrm>
            <a:off x="457200" y="4929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302890-6A40-9E80-48FF-AC8AF659AAFF}"/>
              </a:ext>
            </a:extLst>
          </p:cNvPr>
          <p:cNvCxnSpPr/>
          <p:nvPr userDrawn="1"/>
        </p:nvCxnSpPr>
        <p:spPr>
          <a:xfrm>
            <a:off x="457200" y="6365100"/>
            <a:ext cx="82296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Area">
            <a:extLst>
              <a:ext uri="{FF2B5EF4-FFF2-40B4-BE49-F238E27FC236}">
                <a16:creationId xmlns:a16="http://schemas.microsoft.com/office/drawing/2014/main" id="{50D13A14-0CA2-1839-D002-65B93F880218}"/>
              </a:ext>
            </a:extLst>
          </p:cNvPr>
          <p:cNvSpPr>
            <a:spLocks noGrp="1"/>
          </p:cNvSpPr>
          <p:nvPr>
            <p:ph type="chart" idx="3"/>
          </p:nvPr>
        </p:nvSpPr>
        <p:spPr>
          <a:xfrm>
            <a:off x="457200" y="347870"/>
            <a:ext cx="8229600" cy="6117230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/>
          <a:p>
            <a:r>
              <a:t>[ Chart goes here — type=chart ]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AA3FC68A-1CD0-F001-5017-FB457EC6FDB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7200" y="6465100"/>
            <a:ext cx="8229600" cy="339337"/>
          </a:xfrm>
          <a:prstGeom prst="rect">
            <a:avLst/>
          </a:prstGeom>
          <a:ln w="12700">
            <a:solidFill>
              <a:srgbClr val="999999"/>
            </a:solidFill>
            <a:prstDash val="dash"/>
          </a:ln>
        </p:spPr>
        <p:txBody>
          <a:bodyPr/>
          <a:lstStyle>
            <a:lvl1pPr>
              <a:defRPr sz="1600"/>
            </a:lvl1pPr>
          </a:lstStyle>
          <a:p>
            <a:r>
              <a:rPr lang="en-GB" dirty="0"/>
              <a:t>Footnote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324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age Mint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GB" sz="2800" b="1"/>
              <a:t>Click to edit title</a:t>
            </a:r>
          </a:p>
        </p:txBody>
      </p:sp>
      <p:sp>
        <p:nvSpPr>
          <p:cNvPr id="3" name="Master Body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8229600" cy="4797462"/>
          </a:xfrm>
          <a:prstGeom prst="rect">
            <a:avLst/>
          </a:prstGeom>
        </p:spPr>
        <p:txBody>
          <a:bodyPr/>
          <a:lstStyle/>
          <a:p>
            <a:r>
              <a:rPr lang="en-GB" sz="1800"/>
              <a:t>Click to edit body</a:t>
            </a:r>
          </a:p>
        </p:txBody>
      </p:sp>
      <p:sp>
        <p:nvSpPr>
          <p:cNvPr id="4" name="Master Footer"/>
          <p:cNvSpPr>
            <a:spLocks noGrp="1"/>
          </p:cNvSpPr>
          <p:nvPr>
            <p:ph type="ftr"/>
          </p:nvPr>
        </p:nvSpPr>
        <p:spPr>
          <a:xfrm>
            <a:off x="457200" y="6465100"/>
            <a:ext cx="8229600" cy="342900"/>
          </a:xfrm>
          <a:prstGeom prst="rect">
            <a:avLst/>
          </a:prstGeom>
        </p:spPr>
        <p:txBody>
          <a:bodyPr/>
          <a:lstStyle/>
          <a:p>
            <a:r>
              <a:rPr lang="en-GB" sz="1200"/>
              <a:t>Footer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defRPr lang="en-GB" sz="2800" b="1">
          <a:solidFill>
            <a:schemeClr val="dk1"/>
          </a:solidFill>
        </a:defRPr>
      </a:lvl1pPr>
    </p:titleStyle>
    <p:bodyStyle>
      <a:lvl1pPr>
        <a:defRPr lang="en-GB" sz="1800">
          <a:solidFill>
            <a:schemeClr val="dk1"/>
          </a:solidFill>
        </a:defRPr>
      </a:lvl1pPr>
    </p:bodyStyle>
    <p:otherStyle>
      <a:defPPr>
        <a:defRPr lang="en-GB"/>
      </a:def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chart" Target="../charts/chart37e232172030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8.xml"/>
<Relationship Id="rId2" Type="http://schemas.openxmlformats.org/officeDocument/2006/relationships/chart" Target="../charts/chart37e26572c10e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ctrTitle" hasCustomPrompt="1"/>
          </p:nvPr>
        </p:nvSpPr>
        <p:spPr>
          <a:xfrm>
            <a:off x="807057" y="1697603"/>
            <a:ext cx="7009075" cy="2588150"/>
          </a:xfrm>
        </p:spPr>
        <p:txBody>
          <a:bodyPr/>
          <a:lstStyle/>
          <a:p>
            <a:r>
              <a:rPr/>
              <a:t>Title text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807057" y="4285753"/>
            <a:ext cx="7009075" cy="1143000"/>
          </a:xfrm>
        </p:spPr>
        <p:txBody>
          <a:bodyPr/>
          <a:lstStyle/>
          <a:p>
            <a:r>
              <a:rPr/>
              <a:t>Can you have multiple strings</a:t>
            </a:r>
          </a:p>
          <a:p>
            <a:r>
              <a:rPr/>
              <a:t>in the subtitle?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idx="1" hasCustomPrompt="1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/>
              <a:t>Title for divider slide</a:t>
            </a:r>
          </a:p>
        </p:txBody>
      </p:sp>
      <p:sp>
        <p:nvSpPr>
          <p:cNvPr id="3" name="Straight Connector 3"/>
          <p:cNvSpPr>
            <a:spLocks noGrp="1"/>
          </p:cNvSpPr>
          <p:nvPr>
            <p:ph type="ftr"/>
          </p:nvPr>
        </p:nvSpPr>
        <p:spPr>
          <a:xfrm>
            <a:off x="368300" y="6365100"/>
            <a:ext cx="8229600" cy="342900"/>
          </a:xfrm>
        </p:spPr>
        <p:txBody>
          <a:bodyPr/>
          <a:lstStyle/>
          <a:p>
            <a:r>
              <a:rPr/>
              <a:t>Can you have multiple strings in the footer?</a:t>
            </a:r>
          </a:p>
          <a:p>
            <a:r>
              <a:rPr/>
              <a:t>Yes, but they'll appear off screen</a:t>
            </a:r>
          </a:p>
        </p:txBody>
      </p:sp>
      <p:sp>
        <p:nvSpPr>
          <p:cNvPr id="4" name="Subtitle 2"/>
          <p:cNvSpPr>
            <a:spLocks noGrp="1"/>
          </p:cNvSpPr>
          <p:nvPr>
            <p:ph type="body" idx="2"/>
          </p:nvPr>
        </p:nvSpPr>
        <p:spPr>
          <a:xfrm>
            <a:off x="457200" y="519532"/>
            <a:ext cx="8229600" cy="410771"/>
          </a:xfrm>
        </p:spPr>
        <p:txBody>
          <a:bodyPr/>
          <a:lstStyle/>
          <a:p>
            <a:r>
              <a:rPr/>
              <a:t>Header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84200"/>
            <a:ext cx="8229600" cy="644100"/>
          </a:xfrm>
        </p:spPr>
        <p:txBody>
          <a:bodyPr/>
          <a:lstStyle/>
          <a:p>
            <a:r>
              <a:rPr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397969"/>
            <a:ext cx="8229600" cy="4797462"/>
          </a:xfrm>
        </p:spPr>
        <p:txBody>
          <a:bodyPr/>
          <a:lstStyle/>
          <a:p>
            <a:r>
              <a:rPr/>
              <a:t>Test text</a:t>
            </a:r>
          </a:p>
          <a:p>
            <a:r>
              <a:rPr/>
              <a:t>test</a:t>
            </a:r>
          </a:p>
          <a:p>
            <a:r>
              <a:rPr/>
              <a:t>living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</p:spPr>
        <p:txBody>
          <a:bodyPr/>
          <a:lstStyle/>
          <a:p>
            <a:r>
              <a:rPr/>
              <a:t>Footer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16978"/>
            <a:ext cx="8229600" cy="711324"/>
          </a:xfrm>
        </p:spPr>
        <p:txBody>
          <a:bodyPr/>
          <a:lstStyle/>
          <a:p>
            <a:r>
              <a:rPr/>
              <a:t>Title</a:t>
            </a:r>
          </a:p>
        </p:txBody>
      </p:sp>
      <p:sp>
        <p:nvSpPr>
          <p:cNvPr id="3" name="Left Content"/>
          <p:cNvSpPr>
            <a:spLocks noGrp="1"/>
          </p:cNvSpPr>
          <p:nvPr>
            <p:ph type="body" idx="1"/>
          </p:nvPr>
        </p:nvSpPr>
        <p:spPr>
          <a:xfrm>
            <a:off x="457200" y="1567638"/>
            <a:ext cx="4024800" cy="4797462"/>
          </a:xfrm>
        </p:spPr>
        <p:txBody>
          <a:bodyPr/>
          <a:lstStyle/>
          <a:p>
            <a:r>
              <a:rPr/>
              <a:t>Left_text</a:t>
            </a:r>
          </a:p>
          <a:p>
            <a:r>
              <a:rPr/>
              <a:t>test</a:t>
            </a:r>
          </a:p>
          <a:p>
            <a:r>
              <a:rPr/>
              <a:t>living</a:t>
            </a:r>
          </a:p>
        </p:txBody>
      </p:sp>
      <p:sp>
        <p:nvSpPr>
          <p:cNvPr id="4" name="Right Content"/>
          <p:cNvSpPr>
            <a:spLocks noGrp="1"/>
          </p:cNvSpPr>
          <p:nvPr>
            <p:ph type="body" idx="2"/>
          </p:nvPr>
        </p:nvSpPr>
        <p:spPr>
          <a:xfrm>
            <a:off x="4635501" y="1567638"/>
            <a:ext cx="4051299" cy="4797462"/>
          </a:xfrm>
        </p:spPr>
        <p:txBody>
          <a:bodyPr/>
          <a:lstStyle/>
          <a:p>
            <a:r>
              <a:rPr/>
              <a:t>Right text</a:t>
            </a:r>
          </a:p>
          <a:p>
            <a:r>
              <a:rPr/>
              <a:t>test</a:t>
            </a:r>
          </a:p>
          <a:p>
            <a:r>
              <a:rPr/>
              <a:t>living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10" hasCustomPrompt="1"/>
          </p:nvPr>
        </p:nvSpPr>
        <p:spPr>
          <a:xfrm>
            <a:off x="393700" y="6365100"/>
            <a:ext cx="8229600" cy="339337"/>
          </a:xfrm>
        </p:spPr>
        <p:txBody>
          <a:bodyPr/>
          <a:lstStyle/>
          <a:p>
            <a:r>
              <a:rPr/>
              <a:t>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</p:spPr>
        <p:txBody>
          <a:bodyPr/>
          <a:lstStyle/>
          <a:p>
            <a:r>
              <a:rPr/>
              <a:t>Full width table slide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</p:spPr>
        <p:txBody>
          <a:bodyPr/>
          <a:lstStyle/>
          <a:p>
            <a:r>
              <a:rPr/>
              <a:t>Description text</a:t>
            </a:r>
          </a:p>
          <a:p>
            <a:r>
              <a:rPr/>
              <a:t>Here table is shrunk a bit to fit</a:t>
            </a:r>
          </a:p>
          <a:p>
            <a:r>
              <a:rPr/>
              <a:t>if table too big, still wont' fit</a:t>
            </a:r>
          </a:p>
        </p:txBody>
      </p:sp>
      <p:graphicFrame>
        <p:nvGraphicFramePr>
          <p:cNvPr id="4" name="Table Area"/>
          <p:cNvGraphicFramePr>
            <a:graphicFrameLocks noGrp="true"/>
          </p:cNvGraphicFramePr>
          <p:nvPr/>
        </p:nvGraphicFramePr>
        <p:xfrm rot="0">
          <a:off x="457200" y="2222852"/>
          <a:ext cx="8229600" cy="4142248"/>
        </p:xfrm>
        <a:graphic>
          <a:graphicData uri="http://schemas.openxmlformats.org/drawingml/2006/table">
            <a:tbl>
              <a:tblPr/>
              <a:tblGrid>
                <a:gridCol w="1441061"/>
                <a:gridCol w="555658"/>
                <a:gridCol w="454975"/>
                <a:gridCol w="610364"/>
                <a:gridCol w="493857"/>
                <a:gridCol w="532670"/>
                <a:gridCol w="610364"/>
                <a:gridCol w="610364"/>
                <a:gridCol w="416162"/>
                <a:gridCol w="462683"/>
                <a:gridCol w="555862"/>
                <a:gridCol w="555862"/>
              </a:tblGrid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rowname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mpg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cyl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disp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hp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drat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qsec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vs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gear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carb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2.620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 Wag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2.875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Datsun 710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108.0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3.85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2.320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18.61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4 Drive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258.0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19.44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Sportabout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Valiant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225.0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2.76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20.22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Duster 360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14.3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3.570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15.84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240D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146.7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3.69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20.00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140.8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18.90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450SE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4.070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17.40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3.730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17.60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450SLC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15.2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3.780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18.00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1894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Cadillac Fleetwood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472.0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205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2.93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5.250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17.98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12700" marT="127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</p:spPr>
        <p:txBody>
          <a:bodyPr/>
          <a:lstStyle/>
          <a:p>
            <a:r>
              <a:rPr/>
              <a:t>Footer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57141"/>
            <a:ext cx="8229600" cy="509660"/>
          </a:xfrm>
        </p:spPr>
        <p:txBody>
          <a:bodyPr/>
          <a:lstStyle/>
          <a:p>
            <a:r>
              <a:rPr/>
              <a:t>Full width table slide</a:t>
            </a:r>
          </a:p>
        </p:txBody>
      </p:sp>
      <p:sp>
        <p:nvSpPr>
          <p:cNvPr id="3" name="Description"/>
          <p:cNvSpPr>
            <a:spLocks noGrp="1"/>
          </p:cNvSpPr>
          <p:nvPr>
            <p:ph type="body" idx="1" hasCustomPrompt="1"/>
          </p:nvPr>
        </p:nvSpPr>
        <p:spPr>
          <a:xfrm>
            <a:off x="457200" y="1066801"/>
            <a:ext cx="8229600" cy="1033968"/>
          </a:xfrm>
        </p:spPr>
        <p:txBody>
          <a:bodyPr/>
          <a:lstStyle/>
          <a:p>
            <a:r>
              <a:rPr/>
              <a:t>Description text. Here is an unshrunk table, too big</a:t>
            </a:r>
          </a:p>
        </p:txBody>
      </p:sp>
      <p:graphicFrame>
        <p:nvGraphicFramePr>
          <p:cNvPr id="4" name="Table Area"/>
          <p:cNvGraphicFramePr>
            <a:graphicFrameLocks noGrp="true"/>
          </p:cNvGraphicFramePr>
          <p:nvPr/>
        </p:nvGraphicFramePr>
        <p:xfrm rot="0">
          <a:off x="457200" y="2222852"/>
          <a:ext cx="8229600" cy="4142248"/>
        </p:xfrm>
        <a:graphic>
          <a:graphicData uri="http://schemas.openxmlformats.org/drawingml/2006/table">
            <a:tbl>
              <a:tblPr/>
              <a:tblGrid>
                <a:gridCol w="1441061"/>
                <a:gridCol w="555658"/>
                <a:gridCol w="454975"/>
                <a:gridCol w="610364"/>
                <a:gridCol w="493857"/>
                <a:gridCol w="532670"/>
                <a:gridCol w="610364"/>
                <a:gridCol w="610364"/>
                <a:gridCol w="416162"/>
                <a:gridCol w="462683"/>
                <a:gridCol w="555862"/>
                <a:gridCol w="555862"/>
              </a:tblGrid>
              <a:tr h="39140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rowname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mpg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cyl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disp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drat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qsec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gear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363911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2.620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22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Mazda RX4 Wag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2.875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Datsun 710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108.0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3.85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2.320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63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4 Drive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258.0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83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Hornet Sportabout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43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Valiant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225.0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2.76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Duster 360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360.0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3.570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15.84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63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240D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3.69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638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140.8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3.150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377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50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280C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167.6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3.440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4.070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17.40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Merc 450SLC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275.8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3.780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Cadillac Fleetwood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472.0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5.250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17.98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365100"/>
            <a:ext cx="8229600" cy="339337"/>
          </a:xfrm>
        </p:spPr>
        <p:txBody>
          <a:bodyPr/>
          <a:lstStyle/>
          <a:p>
            <a:r>
              <a:rPr/>
              <a:t>Footer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7" y="611073"/>
            <a:ext cx="8229600" cy="590066"/>
          </a:xfrm>
        </p:spPr>
        <p:txBody>
          <a:bodyPr/>
          <a:lstStyle/>
          <a:p>
            <a:r>
              <a:rPr/>
              <a:t>Title for full width chart with description</a:t>
            </a:r>
          </a:p>
        </p:txBody>
      </p:sp>
      <p:graphicFrame>
        <p:nvGraphicFramePr>
          <p:cNvPr id="3" name="Chart Area"/>
          <p:cNvGraphicFramePr>
            <a:graphicFrameLocks noGrp="true"/>
          </p:cNvGraphicFramePr>
          <p:nvPr/>
        </p:nvGraphicFramePr>
        <p:xfrm rot="0">
          <a:off x="457200" y="2147638"/>
          <a:ext cx="8229600" cy="381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Description"/>
          <p:cNvSpPr>
            <a:spLocks noGrp="1"/>
          </p:cNvSpPr>
          <p:nvPr>
            <p:ph type="body" idx="1"/>
          </p:nvPr>
        </p:nvSpPr>
        <p:spPr>
          <a:xfrm>
            <a:off x="457196" y="1201139"/>
            <a:ext cx="8229599" cy="1202934"/>
          </a:xfrm>
        </p:spPr>
        <p:txBody>
          <a:bodyPr/>
          <a:lstStyle/>
          <a:p>
            <a:r>
              <a:rPr/>
              <a:t>The description text</a:t>
            </a:r>
          </a:p>
          <a:p>
            <a:r>
              <a:rPr/>
              <a:t>spread over lines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199" y="5965100"/>
            <a:ext cx="8229599" cy="500000"/>
          </a:xfrm>
        </p:spPr>
        <p:txBody>
          <a:bodyPr/>
          <a:lstStyle/>
          <a:p>
            <a:r>
              <a:rPr/>
              <a:t>Source text</a:t>
            </a:r>
          </a:p>
        </p:txBody>
      </p:sp>
      <p:sp>
        <p:nvSpPr>
          <p:cNvPr id="6" name="Footer"/>
          <p:cNvSpPr>
            <a:spLocks noGrp="1"/>
          </p:cNvSpPr>
          <p:nvPr>
            <p:ph type="body" idx="10" hasCustomPrompt="1"/>
          </p:nvPr>
        </p:nvSpPr>
        <p:spPr>
          <a:xfrm>
            <a:off x="457197" y="6465100"/>
            <a:ext cx="8229600" cy="339337"/>
          </a:xfrm>
        </p:spPr>
        <p:txBody>
          <a:bodyPr/>
          <a:lstStyle/>
          <a:p>
            <a:r>
              <a:rPr/>
              <a:t>Footer for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72900"/>
            <a:ext cx="8229600" cy="644736"/>
          </a:xfrm>
        </p:spPr>
        <p:txBody>
          <a:bodyPr/>
          <a:lstStyle/>
          <a:p>
            <a:r>
              <a:rPr/>
              <a:t>Slide with one column of text and one chart</a:t>
            </a:r>
          </a:p>
        </p:txBody>
      </p:sp>
      <p:sp>
        <p:nvSpPr>
          <p:cNvPr id="3" name="Text Area"/>
          <p:cNvSpPr>
            <a:spLocks noGrp="1"/>
          </p:cNvSpPr>
          <p:nvPr>
            <p:ph type="body" idx="1"/>
          </p:nvPr>
        </p:nvSpPr>
        <p:spPr>
          <a:xfrm>
            <a:off x="457200" y="1297635"/>
            <a:ext cx="2880360" cy="4637465"/>
          </a:xfrm>
        </p:spPr>
        <p:txBody>
          <a:bodyPr/>
          <a:lstStyle/>
          <a:p>
            <a:r>
              <a:rPr/>
              <a:t>The column of text</a:t>
            </a:r>
          </a:p>
        </p:txBody>
      </p:sp>
      <p:graphicFrame>
        <p:nvGraphicFramePr>
          <p:cNvPr id="4" name="Chart Area"/>
          <p:cNvGraphicFramePr>
            <a:graphicFrameLocks noGrp="true"/>
          </p:cNvGraphicFramePr>
          <p:nvPr/>
        </p:nvGraphicFramePr>
        <p:xfrm rot="0">
          <a:off x="3517560" y="1567638"/>
          <a:ext cx="5169240" cy="43674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ource"/>
          <p:cNvSpPr>
            <a:spLocks noGrp="1"/>
          </p:cNvSpPr>
          <p:nvPr>
            <p:ph type="body" idx="2" hasCustomPrompt="1"/>
          </p:nvPr>
        </p:nvSpPr>
        <p:spPr>
          <a:xfrm>
            <a:off x="457200" y="5935100"/>
            <a:ext cx="8229600" cy="350000"/>
          </a:xfrm>
        </p:spPr>
        <p:txBody>
          <a:bodyPr/>
          <a:lstStyle/>
          <a:p>
            <a:r>
              <a:rPr/>
              <a:t>Chart source</a:t>
            </a:r>
          </a:p>
        </p:txBody>
      </p:sp>
      <p:sp>
        <p:nvSpPr>
          <p:cNvPr id="6" name="Footer"/>
          <p:cNvSpPr>
            <a:spLocks noGrp="1"/>
          </p:cNvSpPr>
          <p:nvPr>
            <p:ph type="body" idx="10" hasCustomPrompt="1"/>
          </p:nvPr>
        </p:nvSpPr>
        <p:spPr>
          <a:xfrm>
            <a:off x="457200" y="6445100"/>
            <a:ext cx="8229600" cy="339337"/>
          </a:xfrm>
        </p:spPr>
        <p:txBody>
          <a:bodyPr/>
          <a:lstStyle/>
          <a:p>
            <a:r>
              <a:rPr/>
              <a:t>Footer for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ge Mint Theme">
  <a:themeElements>
    <a:clrScheme name="Sage Mint">
      <a:dk1>
        <a:srgbClr val="1F2937"/>
      </a:dk1>
      <a:lt1>
        <a:srgbClr val="FFFFFF"/>
      </a:lt1>
      <a:dk2>
        <a:srgbClr val="3D8B65"/>
      </a:dk2>
      <a:lt2>
        <a:srgbClr val="D6ECDF"/>
      </a:lt2>
      <a:accent1>
        <a:srgbClr val="3D8B65"/>
      </a:accent1>
      <a:accent2>
        <a:srgbClr val="74C69D"/>
      </a:accent2>
      <a:accent3>
        <a:srgbClr val="9BD4B7"/>
      </a:accent3>
      <a:accent4>
        <a:srgbClr val="BDDECB"/>
      </a:accent4>
      <a:accent5>
        <a:srgbClr val="D6ECDF"/>
      </a:accent5>
      <a:accent6>
        <a:srgbClr val="3D8B65"/>
      </a:accent6>
      <a:hlink>
        <a:srgbClr val="3D8B65"/>
      </a:hlink>
      <a:folHlink>
        <a:srgbClr val="74C69D"/>
      </a:folHlink>
    </a:clrScheme>
    <a:fontScheme name="For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Aptos</vt:lpstr>
      <vt:lpstr>Calibri</vt:lpstr>
      <vt:lpstr>Sage Mint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cp:lastModifiedBy>joecrowley</cp:lastModifiedBy>
  <cp:revision>10</cp:revision>
  <dcterms:modified xsi:type="dcterms:W3CDTF">2026-06-17T21:33:42Z</dcterms:modified>
</cp:coreProperties>
</file>