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abf482dc5c1.xml" ContentType="application/vnd.openxmlformats-officedocument.drawingml.chart+xml"/>
  <Override PartName="/ppt/slides/slide2.xml" ContentType="application/vnd.openxmlformats-officedocument.presentationml.slide+xml"/>
  <Override PartName="/ppt/charts/chartabf4d9cf876.xml" ContentType="application/vnd.openxmlformats-officedocument.drawingml.chart+xml"/>
  <Override PartName="/ppt/slides/slide3.xml" ContentType="application/vnd.openxmlformats-officedocument.presentationml.slide+xml"/>
  <Override PartName="/ppt/charts/chartabf753fb1f6.xml" ContentType="application/vnd.openxmlformats-officedocument.drawingml.chart+xml"/>
  <Override PartName="/ppt/slides/slide4.xml" ContentType="application/vnd.openxmlformats-officedocument.presentationml.slide+xml"/>
  <Override PartName="/ppt/charts/chartabf1ce26b77.xml" ContentType="application/vnd.openxmlformats-officedocument.drawingml.chart+xml"/>
  <Override PartName="/ppt/slides/slide5.xml" ContentType="application/vnd.openxmlformats-officedocument.presentationml.slide+xml"/>
  <Override PartName="/ppt/charts/chartabf448524f7.xml" ContentType="application/vnd.openxmlformats-officedocument.drawingml.chart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"/>
  </p:handout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C77D"/>
    <a:srgbClr val="9999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08"/>
    <p:restoredTop sz="94658"/>
  </p:normalViewPr>
  <p:slideViewPr>
    <p:cSldViewPr snapToGrid="0">
      <p:cViewPr varScale="1">
        <p:scale>
          <a:sx n="120" d="100"/>
          <a:sy n="120" d="100"/>
        </p:scale>
        <p:origin x="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3128" y="192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handoutMaster" Target="handoutMasters/handout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1.xml"/>
<Relationship Id="rId8" Type="http://schemas.openxmlformats.org/officeDocument/2006/relationships/slide" Target="slides/slide2.xml"/>
<Relationship Id="rId9" Type="http://schemas.openxmlformats.org/officeDocument/2006/relationships/slide" Target="slides/slide3.xml"/>
<Relationship Id="rId10" Type="http://schemas.openxmlformats.org/officeDocument/2006/relationships/slide" Target="slides/slide4.xml"/>
<Relationship Id="rId11" Type="http://schemas.openxmlformats.org/officeDocument/2006/relationships/slide" Target="slides/slide5.xml"/>
</Relationships>

</file>

<file path=ppt/charts/_rels/chartabf1ce26b77.xml.rels><?xml version="1.0" encoding="UTF-8" standalone="yes"?><Relationships  xmlns="http://schemas.openxmlformats.org/package/2006/relationships"><Relationship Id="rId1" Type="http://schemas.openxmlformats.org/officeDocument/2006/relationships/package" Target="../embeddings/dataabf54fd6071.xlsx"/></Relationships>

</file>

<file path=ppt/charts/_rels/chartabf4d9cf876.xml.rels><?xml version="1.0" encoding="UTF-8" standalone="yes"?><Relationships  xmlns="http://schemas.openxmlformats.org/package/2006/relationships"><Relationship Id="rId1" Type="http://schemas.openxmlformats.org/officeDocument/2006/relationships/package" Target="../embeddings/dataabf7c7c32c8.xlsx"/></Relationships>

</file>

<file path=ppt/charts/_rels/chartabf482dc5c1.xml.rels><?xml version="1.0" encoding="UTF-8" standalone="yes"?><Relationships  xmlns="http://schemas.openxmlformats.org/package/2006/relationships"><Relationship Id="rId1" Type="http://schemas.openxmlformats.org/officeDocument/2006/relationships/package" Target="../embeddings/dataabf351226ec.xlsx"/></Relationships>

</file>

<file path=ppt/charts/_rels/chartabf753fb1f6.xml.rels><?xml version="1.0" encoding="UTF-8" standalone="yes"?><Relationships  xmlns="http://schemas.openxmlformats.org/package/2006/relationships"><Relationship Id="rId1" Type="http://schemas.openxmlformats.org/officeDocument/2006/relationships/package" Target="../embeddings/dataabf28bcc99d.xlsx"/></Relationships>

</file>

<file path=ppt/charts/_rels/chartabf448524f7.xml.rels><?xml version="1.0" encoding="UTF-8" standalone="yes"?><Relationships  xmlns="http://schemas.openxmlformats.org/package/2006/relationships"><Relationship Id="rId1" Type="http://schemas.openxmlformats.org/officeDocument/2006/relationships/package" Target="../embeddings/dataabf13df746.xlsx"/></Relationships>

</file>

<file path=ppt/charts/chartabf1ce26b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 xmlns:c="http://schemas.openxmlformats.org/drawingml/2006/chart" xmlns:a="http://schemas.openxmlformats.org/drawingml/2006/main" xmlns:r="http://schemas.openxmlformats.org/officeDocument/2006/relationships"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One</c:v>
                </c:pt>
              </c:strCache>
            </c:strRef>
          </c:tx>
          <c:spPr>
            <a:solidFill>
              <a:srgbClr val="33BD9E">
                <a:alpha val="100000"/>
              </a:srgbClr>
            </a:solidFill>
            <a:ln w="19050">
              <a:solidFill>
                <a:srgbClr val="999999">
                  <a:alpha val="100000"/>
                </a:srgbClr>
              </a:solidFill>
            </a:ln>
            <a:effectLst/>
          </c:spPr>
          <c:invertIfNegative val="0"/>
          <c:dLbls>
            <c:dLblPos val="ctr"/>
            <c:numFmt formatCode="0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extLst>
              <c:ext xmlns:c15="http://schemas.microsoft.com/office/drawing/2012/chart" uri="{CE6537A1-D6FC-4f65-9D91-7224C49458BB}">
                <c15:dlblFieldTable/>
                <c15:showDataLabelsRange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</c:v>
                </c:pt>
                <c:pt idx="1">
                  <c:v>23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sheet1!$E$2:$E$5</c15:f>
                <c15:dlblRangeCache>
                  <c:ptCount val="4"/>
                  <c:pt idx="0">
                    <c:v>10</c:v>
                  </c:pt>
                  <c:pt idx="1">
                    <c:v>23</c:v>
                  </c:pt>
                  <c:pt idx="2">
                    <c:v>15</c:v>
                  </c:pt>
                  <c:pt idx="3">
                    <c:v>8</c:v>
                  </c:pt>
                </c15:dlblRangeCache>
              </c15:datalabelsRange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Two</c:v>
                </c:pt>
              </c:strCache>
            </c:strRef>
          </c:tx>
          <c:spPr>
            <a:solidFill>
              <a:srgbClr val="BF75B5">
                <a:alpha val="100000"/>
              </a:srgbClr>
            </a:solidFill>
            <a:ln w="19050">
              <a:solidFill>
                <a:srgbClr val="999999">
                  <a:alpha val="100000"/>
                </a:srgbClr>
              </a:solidFill>
            </a:ln>
            <a:effectLst/>
          </c:spPr>
          <c:invertIfNegative val="0"/>
          <c:dLbls>
            <c:dLblPos val="ctr"/>
            <c:numFmt formatCode="0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extLst>
              <c:ext xmlns:c15="http://schemas.microsoft.com/office/drawing/2012/chart" uri="{CE6537A1-D6FC-4f65-9D91-7224C49458BB}">
                <c15:dlblFieldTable/>
                <c15:showDataLabelsRange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ptCount val="4"/>
                <c:pt idx="0">
                  <c:v>9</c:v>
                </c:pt>
                <c:pt idx="1">
                  <c:v>10</c:v>
                </c:pt>
                <c:pt idx="2">
                  <c:v>11</c:v>
                </c:pt>
                <c:pt idx="3">
                  <c:v>17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sheet1!$F$2:$F$5</c15:f>
                <c15:dlblRangeCache>
                  <c:ptCount val="4"/>
                  <c:pt idx="0">
                    <c:v>9</c:v>
                  </c:pt>
                  <c:pt idx="1">
                    <c:v>10</c:v>
                  </c:pt>
                  <c:pt idx="2">
                    <c:v>11</c:v>
                  </c:pt>
                  <c:pt idx="3">
                    <c:v>17</c:v>
                  </c:pt>
                </c15:dlblRangeCache>
              </c15:datalabelsRange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Three</c:v>
                </c:pt>
              </c:strCache>
            </c:strRef>
          </c:tx>
          <c:spPr>
            <a:solidFill>
              <a:srgbClr val="F57DA8">
                <a:alpha val="100000"/>
              </a:srgbClr>
            </a:solidFill>
            <a:ln w="19050">
              <a:solidFill>
                <a:srgbClr val="999999">
                  <a:alpha val="100000"/>
                </a:srgbClr>
              </a:solidFill>
            </a:ln>
            <a:effectLst/>
          </c:spPr>
          <c:invertIfNegative val="0"/>
          <c:dLbls>
            <c:dLblPos val="ctr"/>
            <c:numFmt formatCode="0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extLst>
              <c:ext xmlns:c15="http://schemas.microsoft.com/office/drawing/2012/chart" uri="{CE6537A1-D6FC-4f65-9D91-7224C49458BB}">
                <c15:dlblFieldTable/>
                <c15:showDataLabelsRange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ptCount val="4"/>
                <c:pt idx="0">
                  <c:v>3</c:v>
                </c:pt>
                <c:pt idx="1">
                  <c:v>6</c:v>
                </c:pt>
                <c:pt idx="2">
                  <c:v>25</c:v>
                </c:pt>
                <c:pt idx="3">
                  <c:v>23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sheet1!$G$2:$G$5</c15:f>
                <c15:dlblRangeCache>
                  <c:ptCount val="4"/>
                  <c:pt idx="0">
                    <c:v>3</c:v>
                  </c:pt>
                  <c:pt idx="1">
                    <c:v>6</c:v>
                  </c:pt>
                  <c:pt idx="2">
                    <c:v>25</c:v>
                  </c:pt>
                  <c:pt idx="3">
                    <c:v>23</c:v>
                  </c:pt>
                </c15:dlblRangeCache>
              </c15:datalabelsRange>
            </c:ext>
          </c:extLst>
        </c:ser>
        <c:dLbls>
          <c:dLblPos val="ctr"/>
          <c:numFmt formatCode="0" sourceLinked="0"/>
          <c:separator val=", "/>
          <c:showBubbleSize val="0"/>
          <c:showCatName val="0"/>
          <c:showLegendKey val="0"/>
          <c:showPercent val="0"/>
          <c:showSerName val="0"/>
          <c:showVal val="0"/>
        </c:dLbls>
        <c:gapWidth val="50"/>
        <c:overlap val="100"/>
        <c:axId val="64451712"/>
        <c:axId val="64453248"/>
      </c:barChart>
      <c:catAx>
        <c:axId val="64451712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</c:scaling>
        <c:delete val="0"/>
        <c:axPos val="l"/>
        <c:majorGridlines>
          <c:spPr>
            <a:ln algn="ctr" w="1270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ajorTickMark val="out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0" sourceLinked="0"/>
        <c:crossAx val="64451712"/>
        <c:crosses val="autoZero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1400" i="0" b="0" u="none">
              <a:solidFill>
                <a:srgbClr val="000000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abf4d9cf8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 xmlns:c="http://schemas.openxmlformats.org/drawingml/2006/chart" xmlns:a="http://schemas.openxmlformats.org/drawingml/2006/main" xmlns:r="http://schemas.openxmlformats.org/officeDocument/2006/relationships">
      <c:layout/>
      <c:barChart>
        <c:barDir val="bar"/>
        <c:grouping val="standar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33BD9E">
                <a:alpha val="100000"/>
              </a:srgbClr>
            </a:solidFill>
            <a:ln w="25400">
              <a:solidFill>
                <a:srgbClr val="FFFFFF">
                  <a:alpha val="0"/>
                </a:srgbClr>
              </a:solidFill>
            </a:ln>
            <a:effectLst/>
          </c:spPr>
          <c:invertIfNegative val="0"/>
          <c:dLbls>
            <c:dLblPos val="outEnd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extLst>
              <c:ext xmlns:c15="http://schemas.microsoft.com/office/drawing/2012/chart" uri="{CE6537A1-D6FC-4f65-9D91-7224C49458BB}">
                <c15:dlblFieldTable/>
                <c15:showDataLabelsRange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sheet1!$F$2:$F$5</c15:f>
                <c15:dlblRangeCache>
                  <c:ptCount val="4"/>
                  <c:pt idx="0">
                    <c:v>10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</c15:dlblRangeCache>
              </c15:datalabelsRange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BF75B5">
                <a:alpha val="100000"/>
              </a:srgbClr>
            </a:solidFill>
            <a:ln w="25400">
              <a:solidFill>
                <a:srgbClr val="FFFFFF">
                  <a:alpha val="0"/>
                </a:srgbClr>
              </a:solidFill>
            </a:ln>
            <a:effectLst/>
          </c:spPr>
          <c:invertIfNegative val="0"/>
          <c:dLbls>
            <c:dLblPos val="outEnd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extLst>
              <c:ext xmlns:c15="http://schemas.microsoft.com/office/drawing/2012/chart" uri="{CE6537A1-D6FC-4f65-9D91-7224C49458BB}">
                <c15:dlblFieldTable/>
                <c15:showDataLabelsRange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ptCount val="4"/>
                <c:pt idx="1">
                  <c:v>23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sheet1!$G$2:$G$5</c15:f>
                <c15:dlblRangeCache>
                  <c:ptCount val="4"/>
                  <c:pt idx="0">
                    <c:v/>
                  </c:pt>
                  <c:pt idx="1">
                    <c:v>23</c:v>
                  </c:pt>
                  <c:pt idx="2">
                    <c:v/>
                  </c:pt>
                  <c:pt idx="3">
                    <c:v/>
                  </c:pt>
                </c15:dlblRangeCache>
              </c15:datalabelsRange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F57DA8">
                <a:alpha val="100000"/>
              </a:srgbClr>
            </a:solidFill>
            <a:ln w="25400">
              <a:solidFill>
                <a:srgbClr val="FFFFFF">
                  <a:alpha val="0"/>
                </a:srgbClr>
              </a:solidFill>
            </a:ln>
            <a:effectLst/>
          </c:spPr>
          <c:invertIfNegative val="0"/>
          <c:dLbls>
            <c:dLblPos val="outEnd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extLst>
              <c:ext xmlns:c15="http://schemas.microsoft.com/office/drawing/2012/chart" uri="{CE6537A1-D6FC-4f65-9D91-7224C49458BB}">
                <c15:dlblFieldTable/>
                <c15:showDataLabelsRange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ptCount val="4"/>
                <c:pt idx="2">
                  <c:v>15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sheet1!$H$2:$H$5</c15:f>
                <c15:dlblRangeCache>
                  <c:ptCount val="4"/>
                  <c:pt idx="0">
                    <c:v/>
                  </c:pt>
                  <c:pt idx="1">
                    <c:v/>
                  </c:pt>
                  <c:pt idx="2">
                    <c:v>15</c:v>
                  </c:pt>
                  <c:pt idx="3">
                    <c:v/>
                  </c:pt>
                </c15:dlblRangeCache>
              </c15:datalabelsRange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rgbClr val="8F99DE">
                <a:alpha val="100000"/>
              </a:srgbClr>
            </a:solidFill>
            <a:ln w="25400">
              <a:solidFill>
                <a:srgbClr val="FFFFFF">
                  <a:alpha val="0"/>
                </a:srgbClr>
              </a:solidFill>
            </a:ln>
            <a:effectLst/>
          </c:spPr>
          <c:invertIfNegative val="0"/>
          <c:dLbls>
            <c:dLblPos val="outEnd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extLst>
              <c:ext xmlns:c15="http://schemas.microsoft.com/office/drawing/2012/chart" uri="{CE6537A1-D6FC-4f65-9D91-7224C49458BB}">
                <c15:dlblFieldTable/>
                <c15:showDataLabelsRange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sheet1!$E$2:$E$5</c:f>
              <c:numCache>
                <c:ptCount val="4"/>
                <c:pt idx="3">
                  <c:v>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sheet1!$I$2:$I$5</c15:f>
                <c15:dlblRangeCache>
                  <c:ptCount val="4"/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>8</c:v>
                  </c:pt>
                </c15:dlblRangeCache>
              </c15:datalabelsRange>
            </c:ext>
          </c:extLst>
        </c:ser>
        <c:dLbls>
          <c:dLblPos val="outEnd"/>
          <c:numFmt formatCode="General" sourceLinked="0"/>
          <c:separator val=", "/>
          <c:showBubbleSize val="0"/>
          <c:showCatName val="0"/>
          <c:showLegendKey val="0"/>
          <c:showPercent val="0"/>
          <c:showSerName val="0"/>
          <c:showVal val="0"/>
        </c:dLbls>
        <c:gapWidth val="150"/>
        <c:overlap val="90"/>
        <c:axId val="64451712"/>
        <c:axId val="64453248"/>
      </c:barChart>
      <c:catAx>
        <c:axId val="64451712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</c:scaling>
        <c:delete val="0"/>
        <c:axPos val="l"/>
        <c:majorGridlines>
          <c:spPr>
            <a:ln algn="ctr" w="1270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ajorTickMark val="out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1712"/>
        <c:crosses val="autoZero"/>
      </c:valAx>
      <c:spPr/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abf482dc5c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 xmlns:c="http://schemas.openxmlformats.org/drawingml/2006/chart" xmlns:a="http://schemas.openxmlformats.org/drawingml/2006/main" xmlns:r="http://schemas.openxmlformats.org/officeDocument/2006/relationships"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AB85">
                <a:alpha val="100000"/>
              </a:srgbClr>
            </a:solidFill>
            <a:ln w="25400">
              <a:solidFill>
                <a:srgbClr val="FFFFFF">
                  <a:alpha val="0"/>
                </a:srgbClr>
              </a:solidFill>
            </a:ln>
            <a:effectLst/>
          </c:spPr>
          <c:invertIfNegative val="0"/>
          <c:dLbls>
            <c:dLblPos val="outEnd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extLst>
              <c:ext xmlns:c15="http://schemas.microsoft.com/office/drawing/2012/chart" uri="{CE6537A1-D6FC-4f65-9D91-7224C49458BB}">
                <c15:dlblFieldTable/>
                <c15:showDataLabelsRange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</c:v>
                </c:pt>
                <c:pt idx="1">
                  <c:v>23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sheet1!$B$2:$B$5</c15:f>
                <c15:dlblRangeCache>
                  <c:ptCount val="4"/>
                  <c:pt idx="0">
                    <c:v>10</c:v>
                  </c:pt>
                  <c:pt idx="1">
                    <c:v>23</c:v>
                  </c:pt>
                  <c:pt idx="2">
                    <c:v>15</c:v>
                  </c:pt>
                  <c:pt idx="3">
                    <c:v>8</c:v>
                  </c:pt>
                </c15:dlblRangeCache>
              </c15:datalabelsRange>
            </c:ext>
          </c:extLst>
        </c:ser>
        <c:dLbls>
          <c:dLblPos val="outEnd"/>
          <c:numFmt formatCode="General" sourceLinked="0"/>
          <c:separator val=", "/>
          <c:showBubbleSize val="0"/>
          <c:showCatName val="0"/>
          <c:showLegendKey val="0"/>
          <c:showPercent val="0"/>
          <c:showSerName val="0"/>
          <c:showVal val="0"/>
        </c:dLbls>
        <c:gapWidth val="150"/>
        <c:overlap val="0"/>
        <c:axId val="64451712"/>
        <c:axId val="64453248"/>
      </c:barChart>
      <c:catAx>
        <c:axId val="64451712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</c:scaling>
        <c:delete val="0"/>
        <c:axPos val="l"/>
        <c:majorGridlines>
          <c:spPr>
            <a:ln algn="ctr" w="1270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ajorTickMark val="out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1712"/>
        <c:crosses val="autoZero"/>
      </c:valAx>
      <c:spPr/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abf753fb1f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 xmlns:c="http://schemas.openxmlformats.org/drawingml/2006/chart" xmlns:a="http://schemas.openxmlformats.org/drawingml/2006/main" xmlns:r="http://schemas.openxmlformats.org/officeDocument/2006/relationships"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One</c:v>
                </c:pt>
              </c:strCache>
            </c:strRef>
          </c:tx>
          <c:spPr>
            <a:solidFill>
              <a:srgbClr val="00AB85">
                <a:alpha val="100000"/>
              </a:srgbClr>
            </a:solidFill>
            <a:ln w="25400">
              <a:solidFill>
                <a:srgbClr val="FFFFFF">
                  <a:alpha val="0"/>
                </a:srgbClr>
              </a:solidFill>
            </a:ln>
            <a:effectLst/>
          </c:spPr>
          <c:invertIfNegative val="0"/>
          <c:dLbls>
            <c:dLblPos val="outEnd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extLst>
              <c:ext xmlns:c15="http://schemas.microsoft.com/office/drawing/2012/chart" uri="{CE6537A1-D6FC-4f65-9D91-7224C49458BB}">
                <c15:dlblFieldTable/>
                <c15:showDataLabelsRange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</c:v>
                </c:pt>
                <c:pt idx="1">
                  <c:v>23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sheet1!$E$2:$E$5</c15:f>
                <c15:dlblRangeCache>
                  <c:ptCount val="4"/>
                  <c:pt idx="0">
                    <c:v>10</c:v>
                  </c:pt>
                  <c:pt idx="1">
                    <c:v>23</c:v>
                  </c:pt>
                  <c:pt idx="2">
                    <c:v>15</c:v>
                  </c:pt>
                  <c:pt idx="3">
                    <c:v>8</c:v>
                  </c:pt>
                </c15:dlblRangeCache>
              </c15:datalabelsRange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Two</c:v>
                </c:pt>
              </c:strCache>
            </c:strRef>
          </c:tx>
          <c:spPr>
            <a:solidFill>
              <a:srgbClr val="33BD9E">
                <a:alpha val="100000"/>
              </a:srgbClr>
            </a:solidFill>
            <a:ln w="25400">
              <a:solidFill>
                <a:srgbClr val="FFFFFF">
                  <a:alpha val="0"/>
                </a:srgbClr>
              </a:solidFill>
            </a:ln>
            <a:effectLst/>
          </c:spPr>
          <c:invertIfNegative val="0"/>
          <c:dLbls>
            <c:dLblPos val="outEnd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extLst>
              <c:ext xmlns:c15="http://schemas.microsoft.com/office/drawing/2012/chart" uri="{CE6537A1-D6FC-4f65-9D91-7224C49458BB}">
                <c15:dlblFieldTable/>
                <c15:showDataLabelsRange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ptCount val="4"/>
                <c:pt idx="0">
                  <c:v>9</c:v>
                </c:pt>
                <c:pt idx="1">
                  <c:v>10</c:v>
                </c:pt>
                <c:pt idx="2">
                  <c:v>11</c:v>
                </c:pt>
                <c:pt idx="3">
                  <c:v>17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sheet1!$F$2:$F$5</c15:f>
                <c15:dlblRangeCache>
                  <c:ptCount val="4"/>
                  <c:pt idx="0">
                    <c:v>9</c:v>
                  </c:pt>
                  <c:pt idx="1">
                    <c:v>10</c:v>
                  </c:pt>
                  <c:pt idx="2">
                    <c:v>11</c:v>
                  </c:pt>
                  <c:pt idx="3">
                    <c:v>17</c:v>
                  </c:pt>
                </c15:dlblRangeCache>
              </c15:datalabelsRange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Three</c:v>
                </c:pt>
              </c:strCache>
            </c:strRef>
          </c:tx>
          <c:spPr>
            <a:solidFill>
              <a:srgbClr val="66CCB5">
                <a:alpha val="100000"/>
              </a:srgbClr>
            </a:solidFill>
            <a:ln w="25400">
              <a:solidFill>
                <a:srgbClr val="FFFFFF">
                  <a:alpha val="0"/>
                </a:srgbClr>
              </a:solidFill>
            </a:ln>
            <a:effectLst/>
          </c:spPr>
          <c:invertIfNegative val="0"/>
          <c:dLbls>
            <c:dLblPos val="outEnd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extLst>
              <c:ext xmlns:c15="http://schemas.microsoft.com/office/drawing/2012/chart" uri="{CE6537A1-D6FC-4f65-9D91-7224C49458BB}">
                <c15:dlblFieldTable/>
                <c15:showDataLabelsRange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ptCount val="4"/>
                <c:pt idx="0">
                  <c:v>3</c:v>
                </c:pt>
                <c:pt idx="1">
                  <c:v>6</c:v>
                </c:pt>
                <c:pt idx="2">
                  <c:v>25</c:v>
                </c:pt>
                <c:pt idx="3">
                  <c:v>23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sheet1!$G$2:$G$5</c15:f>
                <c15:dlblRangeCache>
                  <c:ptCount val="4"/>
                  <c:pt idx="0">
                    <c:v>3</c:v>
                  </c:pt>
                  <c:pt idx="1">
                    <c:v>6</c:v>
                  </c:pt>
                  <c:pt idx="2">
                    <c:v>25</c:v>
                  </c:pt>
                  <c:pt idx="3">
                    <c:v>23</c:v>
                  </c:pt>
                </c15:dlblRangeCache>
              </c15:datalabelsRange>
            </c:ext>
          </c:extLst>
        </c:ser>
        <c:dLbls>
          <c:dLblPos val="outEnd"/>
          <c:numFmt formatCode="General" sourceLinked="0"/>
          <c:separator val=", "/>
          <c:showBubbleSize val="0"/>
          <c:showCatName val="0"/>
          <c:showLegendKey val="0"/>
          <c:showPercent val="0"/>
          <c:showSerName val="0"/>
          <c:showVal val="0"/>
        </c:dLbls>
        <c:gapWidth val="400"/>
        <c:overlap val="-100"/>
        <c:axId val="64451712"/>
        <c:axId val="64453248"/>
      </c:barChart>
      <c:catAx>
        <c:axId val="64451712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</c:scaling>
        <c:delete val="0"/>
        <c:axPos val="l"/>
        <c:majorGridlines>
          <c:spPr>
            <a:ln algn="ctr" w="1270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ajorTickMark val="out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1712"/>
        <c:crosses val="autoZero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1400" i="0" b="0" u="none">
              <a:solidFill>
                <a:srgbClr val="000000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abf448524f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ln algn="ctr" w="25400">
              <a:solidFill>
                <a:srgbClr val="33BD9E">
                  <a:alpha val="100000"/>
                </a:srgbClr>
              </a:solidFill>
              <a:prstDash val="solid"/>
            </a:ln>
          </c:spPr>
          <c:marker>
            <c:symbol val="circle"/>
            <c:size val="12"/>
            <c:spPr>
              <a:solidFill>
                <a:srgbClr val="4477AA">
                  <a:alpha val="100000"/>
                </a:srgbClr>
              </a:solidFill>
              <a:ln>
                <a:solidFill>
                  <a:srgbClr val="33BD9E">
                    <a:alpha val="100000"/>
                  </a:srgbClr>
                </a:solidFill>
              </a:ln>
              <a:effectLst/>
            </c:spPr>
          </c:marker>
          <c:dLbls>
            <c:dLblPos val="ctr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</c:dLbls>
          <c:cat>
            <c:numRef>
              <c:f>sheet1!$A$2:$A$13</c:f>
              <c:numCache>
                <c:formatCode>yyyy\-mm\-dd</c:formatCode>
                <c:ptCount val="12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</c:numCache>
            </c:numRef>
          </c:cat>
          <c:val>
            <c:numRef>
              <c:f>sheet1!$B$2:$B$13</c:f>
              <c:numCache>
                <c:ptCount val="12"/>
                <c:pt idx="0">
                  <c:v>36</c:v>
                </c:pt>
                <c:pt idx="1">
                  <c:v>42</c:v>
                </c:pt>
                <c:pt idx="2">
                  <c:v>54</c:v>
                </c:pt>
                <c:pt idx="3">
                  <c:v>74</c:v>
                </c:pt>
                <c:pt idx="4">
                  <c:v>32</c:v>
                </c:pt>
                <c:pt idx="5">
                  <c:v>74</c:v>
                </c:pt>
                <c:pt idx="6">
                  <c:v>77</c:v>
                </c:pt>
                <c:pt idx="7">
                  <c:v>60</c:v>
                </c:pt>
                <c:pt idx="8">
                  <c:v>58</c:v>
                </c:pt>
                <c:pt idx="9">
                  <c:v>24</c:v>
                </c:pt>
                <c:pt idx="10">
                  <c:v>32</c:v>
                </c:pt>
                <c:pt idx="11">
                  <c:v>31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ln algn="ctr" w="25400">
              <a:solidFill>
                <a:srgbClr val="BF75B5">
                  <a:alpha val="100000"/>
                </a:srgbClr>
              </a:solidFill>
              <a:prstDash val="solid"/>
            </a:ln>
          </c:spPr>
          <c:marker>
            <c:symbol val="circle"/>
            <c:size val="12"/>
            <c:spPr>
              <a:solidFill>
                <a:srgbClr val="117733">
                  <a:alpha val="100000"/>
                </a:srgbClr>
              </a:solidFill>
              <a:ln>
                <a:solidFill>
                  <a:srgbClr val="BF75B5">
                    <a:alpha val="100000"/>
                  </a:srgbClr>
                </a:solidFill>
              </a:ln>
              <a:effectLst/>
            </c:spPr>
          </c:marker>
          <c:dLbls>
            <c:dLblPos val="ctr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</c:dLbls>
          <c:cat>
            <c:numRef>
              <c:f>sheet1!$A$2:$A$13</c:f>
              <c:numCache>
                <c:formatCode>yyyy\-mm\-dd</c:formatCode>
                <c:ptCount val="12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</c:numCache>
            </c:numRef>
          </c:cat>
          <c:val>
            <c:numRef>
              <c:f>sheet1!$C$2:$C$13</c:f>
              <c:numCache>
                <c:ptCount val="12"/>
                <c:pt idx="0">
                  <c:v>61</c:v>
                </c:pt>
                <c:pt idx="1">
                  <c:v>43</c:v>
                </c:pt>
                <c:pt idx="2">
                  <c:v>66</c:v>
                </c:pt>
                <c:pt idx="3">
                  <c:v>50</c:v>
                </c:pt>
                <c:pt idx="4">
                  <c:v>63</c:v>
                </c:pt>
                <c:pt idx="5">
                  <c:v>80</c:v>
                </c:pt>
                <c:pt idx="6">
                  <c:v>43</c:v>
                </c:pt>
                <c:pt idx="7">
                  <c:v>67</c:v>
                </c:pt>
                <c:pt idx="8">
                  <c:v>76</c:v>
                </c:pt>
                <c:pt idx="9">
                  <c:v>33</c:v>
                </c:pt>
                <c:pt idx="10">
                  <c:v>59</c:v>
                </c:pt>
                <c:pt idx="11">
                  <c:v>28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</c:v>
                </c:pt>
              </c:strCache>
            </c:strRef>
          </c:tx>
          <c:spPr>
            <a:ln algn="ctr" w="25400">
              <a:solidFill>
                <a:srgbClr val="F57DA8">
                  <a:alpha val="100000"/>
                </a:srgbClr>
              </a:solidFill>
              <a:prstDash val="solid"/>
            </a:ln>
          </c:spPr>
          <c:marker>
            <c:symbol val="circle"/>
            <c:size val="12"/>
            <c:spPr>
              <a:solidFill>
                <a:srgbClr val="DDCC77">
                  <a:alpha val="100000"/>
                </a:srgbClr>
              </a:solidFill>
              <a:ln>
                <a:solidFill>
                  <a:srgbClr val="F57DA8">
                    <a:alpha val="100000"/>
                  </a:srgbClr>
                </a:solidFill>
              </a:ln>
              <a:effectLst/>
            </c:spPr>
          </c:marker>
          <c:dLbls>
            <c:dLblPos val="ctr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</c:dLbls>
          <c:cat>
            <c:numRef>
              <c:f>sheet1!$A$2:$A$13</c:f>
              <c:numCache>
                <c:formatCode>yyyy\-mm\-dd</c:formatCode>
                <c:ptCount val="12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</c:numCache>
            </c:numRef>
          </c:cat>
          <c:val>
            <c:numRef>
              <c:f>sheet1!$D$2:$D$13</c:f>
              <c:numCache>
                <c:ptCount val="12"/>
                <c:pt idx="0">
                  <c:v>36</c:v>
                </c:pt>
                <c:pt idx="1">
                  <c:v>43</c:v>
                </c:pt>
                <c:pt idx="2">
                  <c:v>21</c:v>
                </c:pt>
                <c:pt idx="3">
                  <c:v>43</c:v>
                </c:pt>
                <c:pt idx="4">
                  <c:v>72</c:v>
                </c:pt>
                <c:pt idx="5">
                  <c:v>40</c:v>
                </c:pt>
                <c:pt idx="6">
                  <c:v>49</c:v>
                </c:pt>
                <c:pt idx="7">
                  <c:v>56</c:v>
                </c:pt>
                <c:pt idx="8">
                  <c:v>50</c:v>
                </c:pt>
                <c:pt idx="9">
                  <c:v>31</c:v>
                </c:pt>
                <c:pt idx="10">
                  <c:v>70</c:v>
                </c:pt>
                <c:pt idx="11">
                  <c:v>60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</c:v>
                </c:pt>
              </c:strCache>
            </c:strRef>
          </c:tx>
          <c:spPr>
            <a:ln algn="ctr" w="25400">
              <a:solidFill>
                <a:srgbClr val="8F99DE">
                  <a:alpha val="100000"/>
                </a:srgbClr>
              </a:solidFill>
              <a:prstDash val="solid"/>
            </a:ln>
          </c:spPr>
          <c:marker>
            <c:symbol val="circle"/>
            <c:size val="12"/>
            <c:spPr>
              <a:solidFill>
                <a:srgbClr val="CC6677">
                  <a:alpha val="100000"/>
                </a:srgbClr>
              </a:solidFill>
              <a:ln>
                <a:solidFill>
                  <a:srgbClr val="8F99DE">
                    <a:alpha val="100000"/>
                  </a:srgbClr>
                </a:solidFill>
              </a:ln>
              <a:effectLst/>
            </c:spPr>
          </c:marker>
          <c:dLbls>
            <c:dLblPos val="ctr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</c:dLbls>
          <c:cat>
            <c:numRef>
              <c:f>sheet1!$A$2:$A$13</c:f>
              <c:numCache>
                <c:formatCode>yyyy\-mm\-dd</c:formatCode>
                <c:ptCount val="12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</c:numCache>
            </c:numRef>
          </c:cat>
          <c:val>
            <c:numRef>
              <c:f>sheet1!$E$2:$E$13</c:f>
              <c:numCache>
                <c:ptCount val="12"/>
                <c:pt idx="0">
                  <c:v>68</c:v>
                </c:pt>
                <c:pt idx="1">
                  <c:v>26</c:v>
                </c:pt>
                <c:pt idx="2">
                  <c:v>63</c:v>
                </c:pt>
                <c:pt idx="3">
                  <c:v>45</c:v>
                </c:pt>
                <c:pt idx="4">
                  <c:v>69</c:v>
                </c:pt>
                <c:pt idx="5">
                  <c:v>59</c:v>
                </c:pt>
                <c:pt idx="6">
                  <c:v>67</c:v>
                </c:pt>
                <c:pt idx="7">
                  <c:v>53</c:v>
                </c:pt>
                <c:pt idx="8">
                  <c:v>52</c:v>
                </c:pt>
                <c:pt idx="9">
                  <c:v>67</c:v>
                </c:pt>
                <c:pt idx="10">
                  <c:v>21</c:v>
                </c:pt>
                <c:pt idx="11">
                  <c:v>49</c:v>
                </c:pt>
              </c:numCache>
            </c:numRef>
          </c:val>
          <c:smooth val="1"/>
        </c:ser>
        <c:dLbls>
          <c:dLblPos val="ctr"/>
          <c:numFmt formatCode="General" sourceLinked="0"/>
          <c:separator val=", "/>
          <c:showBubbleSize val="0"/>
          <c:showCatName val="0"/>
          <c:showLegendKey val="0"/>
          <c:showPercent val="0"/>
          <c:showSerName val="0"/>
          <c:showVal val="0"/>
        </c:dLbls>
        <c:axId val="64451712"/>
        <c:axId val="64453248"/>
      </c:lineChart>
      <c:dateAx>
        <c:axId val="64451712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mmm-yy" sourceLinked="0"/>
        <c:crossAx val="64453248"/>
        <c:crosses val="autoZero"/>
      </c:dateAx>
      <c:valAx>
        <c:axId val="64453248"/>
        <c:scaling>
          <c:orientation val="minMax"/>
        </c:scaling>
        <c:delete val="0"/>
        <c:axPos val="l"/>
        <c:majorGridlines>
          <c:spPr>
            <a:ln algn="ctr" w="1270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ajorTickMark val="out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1712"/>
        <c:crosses val="autoZero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1400" i="0" b="0" u="none">
              <a:solidFill>
                <a:srgbClr val="000000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7D5229-4D53-F667-CB6D-217F01007F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74DC2-A4E4-9048-4DBD-2AA91984A3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4416C-77FE-564C-A2DA-47308289677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53947-3CD6-AE92-9BAD-716AFF2CB4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CE6E9-1E5D-2EE3-3340-2D3CE3178F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81E70-A936-264D-B3ED-C2AE66B21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10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ctrTitle" hasCustomPrompt="1"/>
          </p:nvPr>
        </p:nvSpPr>
        <p:spPr>
          <a:xfrm>
            <a:off x="807057" y="1697603"/>
            <a:ext cx="7009075" cy="258815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 algn="l">
              <a:defRPr sz="4500"/>
            </a:lvl1pPr>
          </a:lstStyle>
          <a:p>
            <a:r>
              <a:rPr dirty="0"/>
              <a:t>Title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807057" y="4285753"/>
            <a:ext cx="7009075" cy="1143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Subtitle (Subtitle 2)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B25BBA-E101-A8B6-A725-50005075C016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CFB660-259F-932C-151F-ED09AF87F408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vider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idx="1" hasCustomPrompt="1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800" b="1"/>
            </a:lvl1pPr>
          </a:lstStyle>
          <a:p>
            <a:r>
              <a:rPr dirty="0"/>
              <a:t>Section title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2"/>
          </p:nvPr>
        </p:nvSpPr>
        <p:spPr>
          <a:xfrm>
            <a:off x="457200" y="519532"/>
            <a:ext cx="8229600" cy="410771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Chapter / header (Subtitle 2)</a:t>
            </a:r>
          </a:p>
        </p:txBody>
      </p:sp>
      <p:sp>
        <p:nvSpPr>
          <p:cNvPr id="4" name="Straight Connector 3"/>
          <p:cNvSpPr>
            <a:spLocks noGrp="1"/>
          </p:cNvSpPr>
          <p:nvPr>
            <p:ph type="ftr"/>
          </p:nvPr>
        </p:nvSpPr>
        <p:spPr>
          <a:xfrm>
            <a:off x="368300" y="6365100"/>
            <a:ext cx="8229600" cy="3429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Footer (Straight Connector 3)</a:t>
            </a:r>
            <a:endParaRPr lang="en-GB" sz="1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DCCDD0-F9D8-D4BC-9797-A1DC5589AAE7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773DDE-651D-1BBA-4AD1-FA7B7DFCE3DC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d message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idx="1" hasCustomPrompt="1"/>
          </p:nvPr>
        </p:nvSpPr>
        <p:spPr>
          <a:xfrm>
            <a:off x="457199" y="1521600"/>
            <a:ext cx="3441687" cy="309015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 b="1"/>
            </a:lvl1pPr>
          </a:lstStyle>
          <a:p>
            <a:r>
              <a:rPr dirty="0"/>
              <a:t>End message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2"/>
          </p:nvPr>
        </p:nvSpPr>
        <p:spPr>
          <a:xfrm>
            <a:off x="4378518" y="1521600"/>
            <a:ext cx="3931920" cy="2834639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Subtitle (Subtitle 2)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677628-6C6C-9759-440D-07B9F158768C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296536-A136-0D9E-D285-46EF01292A2C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B0723C-D489-DAF4-F3AC-37F25063A3B1}"/>
              </a:ext>
            </a:extLst>
          </p:cNvPr>
          <p:cNvCxnSpPr>
            <a:cxnSpLocks/>
          </p:cNvCxnSpPr>
          <p:nvPr userDrawn="1"/>
        </p:nvCxnSpPr>
        <p:spPr>
          <a:xfrm>
            <a:off x="3898900" y="1521600"/>
            <a:ext cx="0" cy="3494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">
            <a:extLst>
              <a:ext uri="{FF2B5EF4-FFF2-40B4-BE49-F238E27FC236}">
                <a16:creationId xmlns:a16="http://schemas.microsoft.com/office/drawing/2014/main" id="{BC6C5BC1-694E-B556-E4E2-D3386D7393E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lang="en-GB" dirty="0"/>
              <a:t>Footnote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397969"/>
            <a:ext cx="8229600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Content (Content Placeholder 2)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84200"/>
            <a:ext cx="8229600" cy="644100"/>
          </a:xfrm>
          <a:prstGeom prst="rect">
            <a:avLst/>
          </a:prstGeom>
          <a:ln w="12700">
            <a:solidFill>
              <a:srgbClr val="000000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9636FE-36BA-CB3E-19F1-A714ABE1B48F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4AD07E-34F8-C8EB-F5C6-34903B21A356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16978"/>
            <a:ext cx="8229600" cy="711324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Left Content"/>
          <p:cNvSpPr>
            <a:spLocks noGrp="1"/>
          </p:cNvSpPr>
          <p:nvPr>
            <p:ph type="body" idx="1"/>
          </p:nvPr>
        </p:nvSpPr>
        <p:spPr>
          <a:xfrm>
            <a:off x="457200" y="1567638"/>
            <a:ext cx="4024800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Left column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Right Content"/>
          <p:cNvSpPr>
            <a:spLocks noGrp="1"/>
          </p:cNvSpPr>
          <p:nvPr>
            <p:ph type="body" idx="2"/>
          </p:nvPr>
        </p:nvSpPr>
        <p:spPr>
          <a:xfrm>
            <a:off x="4635501" y="1567638"/>
            <a:ext cx="4051299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Right column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2ABAF21-115B-5664-CE48-05E6169C04C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937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BC9F66-EF24-046F-E174-5B50D0CAD8CB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57D16F-C31B-9CDF-3EA2-AD19ADA060C2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BABCB6-2C6C-55CB-8BAE-45B6F32891EC}"/>
              </a:ext>
            </a:extLst>
          </p:cNvPr>
          <p:cNvCxnSpPr>
            <a:cxnSpLocks/>
          </p:cNvCxnSpPr>
          <p:nvPr userDrawn="1"/>
        </p:nvCxnSpPr>
        <p:spPr>
          <a:xfrm>
            <a:off x="4508500" y="1415671"/>
            <a:ext cx="0" cy="49554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tabl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57141"/>
            <a:ext cx="8229600" cy="50966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Description"/>
          <p:cNvSpPr>
            <a:spLocks noGrp="1"/>
          </p:cNvSpPr>
          <p:nvPr>
            <p:ph type="body" idx="1" hasCustomPrompt="1"/>
          </p:nvPr>
        </p:nvSpPr>
        <p:spPr>
          <a:xfrm>
            <a:off x="457200" y="1066801"/>
            <a:ext cx="8229600" cy="1033968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Description text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Table Area"/>
          <p:cNvSpPr>
            <a:spLocks noGrp="1"/>
          </p:cNvSpPr>
          <p:nvPr>
            <p:ph type="tbl" idx="2" hasCustomPrompt="1"/>
          </p:nvPr>
        </p:nvSpPr>
        <p:spPr>
          <a:xfrm>
            <a:off x="457200" y="2222852"/>
            <a:ext cx="8229600" cy="4142248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[ Table goes here — type=</a:t>
            </a:r>
            <a:r>
              <a:rPr dirty="0" err="1"/>
              <a:t>tbl</a:t>
            </a:r>
            <a:r>
              <a:rPr dirty="0"/>
              <a:t> ]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47A074F9-4649-4A74-8FF6-310CE62F584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64537B-D8CC-2012-E496-92BC1F5CA18C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D9205C-539E-FE96-EA99-FBC321BDD193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hart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7" y="611073"/>
            <a:ext cx="8229600" cy="590066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4" name="Description"/>
          <p:cNvSpPr>
            <a:spLocks noGrp="1"/>
          </p:cNvSpPr>
          <p:nvPr>
            <p:ph type="body" idx="1"/>
          </p:nvPr>
        </p:nvSpPr>
        <p:spPr>
          <a:xfrm>
            <a:off x="457196" y="1201139"/>
            <a:ext cx="8229599" cy="1202934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t>Description (body type_idx=1)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2" hasCustomPrompt="1"/>
          </p:nvPr>
        </p:nvSpPr>
        <p:spPr>
          <a:xfrm>
            <a:off x="457199" y="5965100"/>
            <a:ext cx="8229599" cy="500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dirty="0"/>
              <a:t>Source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3" name="Chart Area"/>
          <p:cNvSpPr>
            <a:spLocks noGrp="1"/>
          </p:cNvSpPr>
          <p:nvPr>
            <p:ph type="chart" idx="3"/>
          </p:nvPr>
        </p:nvSpPr>
        <p:spPr>
          <a:xfrm>
            <a:off x="457200" y="2147638"/>
            <a:ext cx="8229600" cy="381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t>[ Chart goes here — type=chart ]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91A050A8-A766-73AA-277A-5F98893B3D4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197" y="64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67A1F-84EF-D91B-2057-7A108A5F4F68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782BD3-F661-0607-5E1B-B1A5BB1E9CFB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72900"/>
            <a:ext cx="8229600" cy="644736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Text Area"/>
          <p:cNvSpPr>
            <a:spLocks noGrp="1"/>
          </p:cNvSpPr>
          <p:nvPr>
            <p:ph type="body" idx="1"/>
          </p:nvPr>
        </p:nvSpPr>
        <p:spPr>
          <a:xfrm>
            <a:off x="457200" y="1297635"/>
            <a:ext cx="2880360" cy="4637465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Text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Chart Area"/>
          <p:cNvSpPr>
            <a:spLocks noGrp="1"/>
          </p:cNvSpPr>
          <p:nvPr>
            <p:ph type="chart" idx="3"/>
          </p:nvPr>
        </p:nvSpPr>
        <p:spPr>
          <a:xfrm>
            <a:off x="3517560" y="1567638"/>
            <a:ext cx="5169240" cy="436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[ Chart goes here — type=chart ]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2" hasCustomPrompt="1"/>
          </p:nvPr>
        </p:nvSpPr>
        <p:spPr>
          <a:xfrm>
            <a:off x="457200" y="5935100"/>
            <a:ext cx="8229600" cy="350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dirty="0"/>
              <a:t>Source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DA1D7B8A-674D-9F9F-D5FB-243B3C62923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44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104BD9-43EE-18B8-124F-10821517D7FA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302890-6A40-9E80-48FF-AC8AF659AAFF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Area">
            <a:extLst>
              <a:ext uri="{FF2B5EF4-FFF2-40B4-BE49-F238E27FC236}">
                <a16:creationId xmlns:a16="http://schemas.microsoft.com/office/drawing/2014/main" id="{50D13A14-0CA2-1839-D002-65B93F880218}"/>
              </a:ext>
            </a:extLst>
          </p:cNvPr>
          <p:cNvSpPr>
            <a:spLocks noGrp="1"/>
          </p:cNvSpPr>
          <p:nvPr>
            <p:ph type="chart" idx="3"/>
          </p:nvPr>
        </p:nvSpPr>
        <p:spPr>
          <a:xfrm>
            <a:off x="457200" y="347870"/>
            <a:ext cx="8229600" cy="6117230"/>
          </a:xfrm>
          <a:prstGeom prst="rect">
            <a:avLst/>
          </a:prstGeom>
          <a:ln w="12700">
            <a:solidFill>
              <a:srgbClr val="999999"/>
            </a:solidFill>
            <a:prstDash val="dash"/>
          </a:ln>
        </p:spPr>
        <p:txBody>
          <a:bodyPr/>
          <a:lstStyle/>
          <a:p>
            <a:r>
              <a:t>[ Chart goes here — type=chart ]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AA3FC68A-1CD0-F001-5017-FB457EC6FDB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465100"/>
            <a:ext cx="8229600" cy="339337"/>
          </a:xfrm>
          <a:prstGeom prst="rect">
            <a:avLst/>
          </a:prstGeom>
          <a:ln w="12700">
            <a:solidFill>
              <a:srgbClr val="999999"/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324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age Mint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GB" sz="2800" b="1"/>
              <a:t>Click to edit title</a:t>
            </a:r>
          </a:p>
        </p:txBody>
      </p:sp>
      <p:sp>
        <p:nvSpPr>
          <p:cNvPr id="3" name="Master Body"/>
          <p:cNvSpPr>
            <a:spLocks noGrp="1"/>
          </p:cNvSpPr>
          <p:nvPr>
            <p:ph type="body" idx="1"/>
          </p:nvPr>
        </p:nvSpPr>
        <p:spPr>
          <a:xfrm>
            <a:off x="457200" y="1567638"/>
            <a:ext cx="8229600" cy="4797462"/>
          </a:xfrm>
          <a:prstGeom prst="rect">
            <a:avLst/>
          </a:prstGeom>
        </p:spPr>
        <p:txBody>
          <a:bodyPr/>
          <a:lstStyle/>
          <a:p>
            <a:r>
              <a:rPr lang="en-GB" sz="1800"/>
              <a:t>Click to edit body</a:t>
            </a:r>
          </a:p>
        </p:txBody>
      </p:sp>
      <p:sp>
        <p:nvSpPr>
          <p:cNvPr id="4" name="Master Footer"/>
          <p:cNvSpPr>
            <a:spLocks noGrp="1"/>
          </p:cNvSpPr>
          <p:nvPr>
            <p:ph type="ftr"/>
          </p:nvPr>
        </p:nvSpPr>
        <p:spPr>
          <a:xfrm>
            <a:off x="457200" y="6465100"/>
            <a:ext cx="8229600" cy="342900"/>
          </a:xfrm>
          <a:prstGeom prst="rect">
            <a:avLst/>
          </a:prstGeom>
        </p:spPr>
        <p:txBody>
          <a:bodyPr/>
          <a:lstStyle/>
          <a:p>
            <a:r>
              <a:rPr lang="en-GB" sz="1200"/>
              <a:t>Footer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>
        <a:defRPr lang="en-GB" sz="2800" b="1">
          <a:solidFill>
            <a:schemeClr val="dk1"/>
          </a:solidFill>
        </a:defRPr>
      </a:lvl1pPr>
    </p:titleStyle>
    <p:bodyStyle>
      <a:lvl1pPr>
        <a:defRPr lang="en-GB" sz="1800">
          <a:solidFill>
            <a:schemeClr val="dk1"/>
          </a:solidFill>
        </a:defRPr>
      </a:lvl1pPr>
    </p:bodyStyle>
    <p:otherStyle>
      <a:defPPr>
        <a:defRPr lang="en-GB"/>
      </a:def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chart" Target="../charts/chartabf482dc5c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chart" Target="../charts/chartabf4d9cf876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chart" Target="../charts/chartabf753fb1f6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chart" Target="../charts/chartabf1ce26b7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chart" Target="../charts/chartabf448524f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7" y="611073"/>
            <a:ext cx="8229600" cy="590066"/>
          </a:xfrm>
        </p:spPr>
        <p:txBody>
          <a:bodyPr/>
          <a:lstStyle/>
          <a:p>
            <a:r>
              <a:rPr/>
              <a:t>Bar chart</a:t>
            </a:r>
          </a:p>
        </p:txBody>
      </p:sp>
      <p:graphicFrame>
        <p:nvGraphicFramePr>
          <p:cNvPr id="3" name="Chart Area"/>
          <p:cNvGraphicFramePr>
            <a:graphicFrameLocks noGrp="true"/>
          </p:cNvGraphicFramePr>
          <p:nvPr/>
        </p:nvGraphicFramePr>
        <p:xfrm rot="0">
          <a:off x="457200" y="2147638"/>
          <a:ext cx="8229600" cy="38174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7" y="611073"/>
            <a:ext cx="8229600" cy="590066"/>
          </a:xfrm>
        </p:spPr>
        <p:txBody>
          <a:bodyPr/>
          <a:lstStyle/>
          <a:p>
            <a:r>
              <a:rPr/>
              <a:t>Bar chart - one colour per bar, horizontal</a:t>
            </a:r>
          </a:p>
        </p:txBody>
      </p:sp>
      <p:graphicFrame>
        <p:nvGraphicFramePr>
          <p:cNvPr id="3" name="Chart Area"/>
          <p:cNvGraphicFramePr>
            <a:graphicFrameLocks noGrp="true"/>
          </p:cNvGraphicFramePr>
          <p:nvPr/>
        </p:nvGraphicFramePr>
        <p:xfrm rot="0">
          <a:off x="457200" y="2147638"/>
          <a:ext cx="8229600" cy="38174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7" y="611073"/>
            <a:ext cx="8229600" cy="590066"/>
          </a:xfrm>
        </p:spPr>
        <p:txBody>
          <a:bodyPr/>
          <a:lstStyle/>
          <a:p>
            <a:r>
              <a:rPr/>
              <a:t>Clustered bar chart</a:t>
            </a:r>
          </a:p>
        </p:txBody>
      </p:sp>
      <p:graphicFrame>
        <p:nvGraphicFramePr>
          <p:cNvPr id="3" name="Chart Area"/>
          <p:cNvGraphicFramePr>
            <a:graphicFrameLocks noGrp="true"/>
          </p:cNvGraphicFramePr>
          <p:nvPr/>
        </p:nvGraphicFramePr>
        <p:xfrm rot="0">
          <a:off x="457200" y="2147638"/>
          <a:ext cx="8229600" cy="38174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7" y="611073"/>
            <a:ext cx="8229600" cy="590066"/>
          </a:xfrm>
        </p:spPr>
        <p:txBody>
          <a:bodyPr/>
          <a:lstStyle/>
          <a:p>
            <a:r>
              <a:rPr/>
              <a:t>Stacked bar chart</a:t>
            </a:r>
          </a:p>
        </p:txBody>
      </p:sp>
      <p:graphicFrame>
        <p:nvGraphicFramePr>
          <p:cNvPr id="3" name="Chart Area"/>
          <p:cNvGraphicFramePr>
            <a:graphicFrameLocks noGrp="true"/>
          </p:cNvGraphicFramePr>
          <p:nvPr/>
        </p:nvGraphicFramePr>
        <p:xfrm rot="0">
          <a:off x="457200" y="2147638"/>
          <a:ext cx="8229600" cy="38174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7" y="611073"/>
            <a:ext cx="8229600" cy="590066"/>
          </a:xfrm>
        </p:spPr>
        <p:txBody>
          <a:bodyPr/>
          <a:lstStyle/>
          <a:p>
            <a:r>
              <a:rPr/>
              <a:t>Line chart</a:t>
            </a:r>
          </a:p>
        </p:txBody>
      </p:sp>
      <p:graphicFrame>
        <p:nvGraphicFramePr>
          <p:cNvPr id="3" name="Chart Area"/>
          <p:cNvGraphicFramePr>
            <a:graphicFrameLocks noGrp="true"/>
          </p:cNvGraphicFramePr>
          <p:nvPr/>
        </p:nvGraphicFramePr>
        <p:xfrm rot="0">
          <a:off x="457200" y="2147638"/>
          <a:ext cx="8229600" cy="38174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age Mint Theme">
  <a:themeElements>
    <a:clrScheme name="Sage Mint">
      <a:dk1>
        <a:srgbClr val="1F2937"/>
      </a:dk1>
      <a:lt1>
        <a:srgbClr val="FFFFFF"/>
      </a:lt1>
      <a:dk2>
        <a:srgbClr val="3D8B65"/>
      </a:dk2>
      <a:lt2>
        <a:srgbClr val="D6ECDF"/>
      </a:lt2>
      <a:accent1>
        <a:srgbClr val="3D8B65"/>
      </a:accent1>
      <a:accent2>
        <a:srgbClr val="74C69D"/>
      </a:accent2>
      <a:accent3>
        <a:srgbClr val="9BD4B7"/>
      </a:accent3>
      <a:accent4>
        <a:srgbClr val="BDDECB"/>
      </a:accent4>
      <a:accent5>
        <a:srgbClr val="D6ECDF"/>
      </a:accent5>
      <a:accent6>
        <a:srgbClr val="3D8B65"/>
      </a:accent6>
      <a:hlink>
        <a:srgbClr val="3D8B65"/>
      </a:hlink>
      <a:folHlink>
        <a:srgbClr val="74C69D"/>
      </a:folHlink>
    </a:clrScheme>
    <a:fontScheme name="Fores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Aptos</vt:lpstr>
      <vt:lpstr>Calibri</vt:lpstr>
      <vt:lpstr>Sage Mint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cp:lastModifiedBy>joecrowley</cp:lastModifiedBy>
  <cp:revision>12</cp:revision>
  <dcterms:modified xsi:type="dcterms:W3CDTF">2026-09-10T09:51:54Z</dcterms:modified>
</cp:coreProperties>
</file>